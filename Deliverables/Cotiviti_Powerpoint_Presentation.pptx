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7" r:id="rId6"/>
    <p:sldId id="266" r:id="rId7"/>
    <p:sldId id="261" r:id="rId8"/>
    <p:sldId id="262" r:id="rId9"/>
    <p:sldId id="263" r:id="rId10"/>
    <p:sldId id="264" r:id="rId11"/>
    <p:sldId id="268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530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name, topic chosen (Topic 2), and the one-line premise of the report + POC.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claims review problem: what a claim is, why payers review them, and where AI assists.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AI techniques the report defines: classification, prediction, clustering, anomaly detection, chain reasoning, agentic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end to end system architecture of the POC.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five-step loop the agent runs on every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the four scikit-learn models trained for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three market trends from the report: agentic AI in production, explainability, unstructured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balanced view of upside and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three strategic options for Cotiviti to pursue.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Close, point to the accompanying report, code, and demo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hmedJesserLahmer/Cotiviti-ai-claims-review-assistan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E1650">
                  <a:alpha val="100000"/>
                </a:srgbClr>
              </a:gs>
              <a:gs pos="55000">
                <a:srgbClr val="4A1F7A">
                  <a:alpha val="100000"/>
                </a:srgbClr>
              </a:gs>
              <a:gs pos="100000">
                <a:srgbClr val="7A2E6E">
                  <a:alpha val="100000"/>
                </a:srgbClr>
              </a:gs>
            </a:gsLst>
            <a:lin ang="3600000" scaled="0"/>
          </a:gra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952500" y="857250"/>
            <a:ext cx="126527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-5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cotiviti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2170152" y="1129665"/>
            <a:ext cx="85725" cy="85725"/>
          </a:xfrm>
          <a:prstGeom prst="ellipse">
            <a:avLst/>
          </a:prstGeom>
          <a:solidFill>
            <a:srgbClr val="E85AA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952500" y="3733443"/>
            <a:ext cx="180213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31" dirty="0">
                <a:solidFill>
                  <a:srgbClr val="FFE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 ASSESSMENT · TOPIC 2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2500" y="4243983"/>
            <a:ext cx="14716125" cy="1642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5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Decision Making &amp; Pattern Recognition in Health Care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952500" y="6115408"/>
            <a:ext cx="12753975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E6D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agentic AI approach to claims review — report overview and hackathon proof of concept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52500" y="9265920"/>
            <a:ext cx="252979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 Jesser Lahmer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645169" y="9265920"/>
            <a:ext cx="185936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 Candidate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31" dirty="0">
                <a:solidFill>
                  <a:srgbClr val="E8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91590"/>
            <a:ext cx="14716125" cy="1699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asks one question: is this payment correct?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952500" y="3562350"/>
            <a:ext cx="5232321" cy="5398770"/>
          </a:xfrm>
          <a:prstGeom prst="roundRect">
            <a:avLst>
              <a:gd name="adj" fmla="val 3641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2E165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1371600" y="3981450"/>
            <a:ext cx="4833533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8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371600" y="4709160"/>
            <a:ext cx="4833533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371600" y="5208270"/>
            <a:ext cx="4525944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the procedure clinically appropriate for the diagnosis?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27721" y="3562350"/>
            <a:ext cx="5232440" cy="5398770"/>
          </a:xfrm>
          <a:prstGeom prst="roundRect">
            <a:avLst>
              <a:gd name="adj" fmla="val 3641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2E165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6946821" y="3981450"/>
            <a:ext cx="4833664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8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946821" y="4709160"/>
            <a:ext cx="4833664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6946821" y="5208270"/>
            <a:ext cx="4526067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billed amount match what should reasonably be paid?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103060" y="3562350"/>
            <a:ext cx="5232440" cy="5398770"/>
          </a:xfrm>
          <a:prstGeom prst="roundRect">
            <a:avLst>
              <a:gd name="adj" fmla="val 3641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2E165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12522160" y="3981450"/>
            <a:ext cx="4833664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8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2522160" y="4709160"/>
            <a:ext cx="4833664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2522160" y="5208270"/>
            <a:ext cx="4526067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this provider's billing pattern look normal over time?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2500" y="9265920"/>
            <a:ext cx="180213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Cotiviti is hired by payers to review claims across these three angles — Treatment, Payment, Operations (TPO).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31" dirty="0">
                <a:solidFill>
                  <a:srgbClr val="E8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CONCEPT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91590"/>
            <a:ext cx="180213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techniques, one recommendation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952500" y="2541270"/>
            <a:ext cx="5283161" cy="3358515"/>
          </a:xfrm>
          <a:prstGeom prst="roundRect">
            <a:avLst>
              <a:gd name="adj" fmla="val 5672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2E165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1276350" y="2865120"/>
            <a:ext cx="5099006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76350" y="3326130"/>
            <a:ext cx="477452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5C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Sorts a claim into a risk bucket — low, medium, or high.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502361" y="2541270"/>
            <a:ext cx="5283161" cy="3358515"/>
          </a:xfrm>
          <a:prstGeom prst="roundRect">
            <a:avLst>
              <a:gd name="adj" fmla="val 5672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2E165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6826211" y="2865120"/>
            <a:ext cx="5099006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826211" y="3326130"/>
            <a:ext cx="477452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5C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Estimates what a claim should reasonably be paid.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2052221" y="2541270"/>
            <a:ext cx="5283161" cy="3358515"/>
          </a:xfrm>
          <a:prstGeom prst="roundRect">
            <a:avLst>
              <a:gd name="adj" fmla="val 5672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2E165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12376071" y="2865120"/>
            <a:ext cx="5099006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2376071" y="3326130"/>
            <a:ext cx="477452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5C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providers by behavior without predefined labels.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52500" y="6166485"/>
            <a:ext cx="5283161" cy="3358515"/>
          </a:xfrm>
          <a:prstGeom prst="roundRect">
            <a:avLst>
              <a:gd name="adj" fmla="val 5672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2E165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1276350" y="6490335"/>
            <a:ext cx="5099006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276350" y="6951345"/>
            <a:ext cx="477452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5C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billing days that break from a provider's own history.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6502361" y="6166485"/>
            <a:ext cx="5283161" cy="3358515"/>
          </a:xfrm>
          <a:prstGeom prst="roundRect">
            <a:avLst>
              <a:gd name="adj" fmla="val 5672"/>
            </a:avLst>
          </a:prstGeom>
          <a:solidFill>
            <a:srgbClr val="2E1650"/>
          </a:solidFill>
          <a:ln/>
          <a:effectLst>
            <a:outerShdw blurRad="28575" dist="9525" dir="5400000" algn="bl" rotWithShape="0">
              <a:srgbClr val="2E165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6826211" y="6490335"/>
            <a:ext cx="5099006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E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Reasoning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6826211" y="6951345"/>
            <a:ext cx="477452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E6D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thinks step-by-step before it concludes.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2052221" y="6166485"/>
            <a:ext cx="5283161" cy="3358515"/>
          </a:xfrm>
          <a:prstGeom prst="roundRect">
            <a:avLst>
              <a:gd name="adj" fmla="val 5672"/>
            </a:avLst>
          </a:prstGeom>
          <a:solidFill>
            <a:srgbClr val="E85AA0"/>
          </a:solidFill>
          <a:ln/>
          <a:effectLst>
            <a:outerShdw blurRad="28575" dist="9525" dir="5400000" algn="bl" rotWithShape="0">
              <a:srgbClr val="2E165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12376071" y="6490335"/>
            <a:ext cx="5099006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2376071" y="6951345"/>
            <a:ext cx="477452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FDEA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can act — requesting more data before deciding.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31" dirty="0">
                <a:solidFill>
                  <a:srgbClr val="E8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91590"/>
            <a:ext cx="180213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952500" y="5137785"/>
            <a:ext cx="2537579" cy="1226820"/>
          </a:xfrm>
          <a:prstGeom prst="roundRect">
            <a:avLst>
              <a:gd name="adj" fmla="val 15528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2E165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1035171" y="5461635"/>
            <a:ext cx="237223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35171" y="5796915"/>
            <a:ext cx="237223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8A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a claim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680579" y="5530215"/>
            <a:ext cx="45720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E8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252079" y="5137785"/>
            <a:ext cx="2537698" cy="1226820"/>
          </a:xfrm>
          <a:prstGeom prst="roundRect">
            <a:avLst>
              <a:gd name="adj" fmla="val 15528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2E165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4334744" y="5461635"/>
            <a:ext cx="237236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34744" y="5796915"/>
            <a:ext cx="237236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8A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UI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980277" y="5530215"/>
            <a:ext cx="45720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E8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7551777" y="5137785"/>
            <a:ext cx="2537579" cy="1226820"/>
          </a:xfrm>
          <a:prstGeom prst="roundRect">
            <a:avLst>
              <a:gd name="adj" fmla="val 15528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2E165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7634448" y="5461635"/>
            <a:ext cx="237223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34448" y="5796915"/>
            <a:ext cx="237223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8A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279856" y="5530215"/>
            <a:ext cx="45720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E8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0851356" y="5137785"/>
            <a:ext cx="3184565" cy="1226820"/>
          </a:xfrm>
          <a:prstGeom prst="roundRect">
            <a:avLst>
              <a:gd name="adj" fmla="val 15528"/>
            </a:avLst>
          </a:prstGeom>
          <a:solidFill>
            <a:srgbClr val="2E1650"/>
          </a:solidFill>
          <a:ln/>
          <a:effectLst>
            <a:outerShdw blurRad="28575" dist="9525" dir="5400000" algn="bl" rotWithShape="0">
              <a:srgbClr val="2E165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10901678" y="5461635"/>
            <a:ext cx="308392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+ LangGraph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01678" y="5796915"/>
            <a:ext cx="308392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D8C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signals → Groq reasoning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4226421" y="5530215"/>
            <a:ext cx="45720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E8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4797921" y="5137785"/>
            <a:ext cx="2537579" cy="1226820"/>
          </a:xfrm>
          <a:prstGeom prst="roundRect">
            <a:avLst>
              <a:gd name="adj" fmla="val 15528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2E165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14880592" y="5461635"/>
            <a:ext cx="237223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880592" y="5796915"/>
            <a:ext cx="237223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8A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Persisted result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52500" y="9265920"/>
            <a:ext cx="180213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Next.js · FastAPI · LangGraph + Groq (Llama 3.3 70B) · MongoDB · scikit-learn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015365"/>
            <a:ext cx="133350" cy="133350"/>
          </a:xfrm>
          <a:prstGeom prst="ellipse">
            <a:avLst/>
          </a:prstGeom>
          <a:solidFill>
            <a:srgbClr val="E85AA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1409700" y="952500"/>
            <a:ext cx="328312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300" dirty="0">
                <a:solidFill>
                  <a:srgbClr val="7A3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668780"/>
            <a:ext cx="176022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500" b="1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reasoning agent, step by step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400175" y="3097530"/>
            <a:ext cx="19050" cy="6141720"/>
          </a:xfrm>
          <a:prstGeom prst="rect">
            <a:avLst/>
          </a:prstGeom>
          <a:solidFill>
            <a:srgbClr val="D8C6E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1143000" y="2811780"/>
            <a:ext cx="563880" cy="563880"/>
          </a:xfrm>
          <a:prstGeom prst="ellipse">
            <a:avLst/>
          </a:prstGeom>
          <a:solidFill>
            <a:srgbClr val="EDE4FF"/>
          </a:solidFill>
          <a:ln w="15240">
            <a:solidFill>
              <a:srgbClr val="7A3FA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1120140" y="282702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7A3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011680" y="2868930"/>
            <a:ext cx="764359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Context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011680" y="3253740"/>
            <a:ext cx="764359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C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the claim, patient, provider, and billing history from MongoDB.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143000" y="4311015"/>
            <a:ext cx="563880" cy="563880"/>
          </a:xfrm>
          <a:prstGeom prst="ellipse">
            <a:avLst/>
          </a:prstGeom>
          <a:solidFill>
            <a:srgbClr val="EDE4FF"/>
          </a:solidFill>
          <a:ln w="15240">
            <a:solidFill>
              <a:srgbClr val="7A3FA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1120140" y="432625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7A3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011680" y="4368165"/>
            <a:ext cx="793513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ML Signals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2011680" y="4752975"/>
            <a:ext cx="793513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C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Classification, prediction, cluster lookup, and anomaly lookup all run.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143000" y="5810250"/>
            <a:ext cx="563880" cy="563880"/>
          </a:xfrm>
          <a:prstGeom prst="ellipse">
            <a:avLst/>
          </a:prstGeom>
          <a:solidFill>
            <a:srgbClr val="EDE4FF"/>
          </a:solidFill>
          <a:ln w="15240">
            <a:solidFill>
              <a:srgbClr val="7A3FA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1120140" y="582549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7A3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2011680" y="5867400"/>
            <a:ext cx="75275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Reasoning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2011680" y="6252210"/>
            <a:ext cx="752756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C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writes 4–6 numbered reasoning steps over the four signals.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143000" y="7309485"/>
            <a:ext cx="563880" cy="563880"/>
          </a:xfrm>
          <a:prstGeom prst="ellipse">
            <a:avLst/>
          </a:prstGeom>
          <a:solidFill>
            <a:srgbClr val="EDE4FF"/>
          </a:solidFill>
          <a:ln w="15240">
            <a:solidFill>
              <a:srgbClr val="7A3FA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1120140" y="732472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7A3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011680" y="7366635"/>
            <a:ext cx="1007581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&amp; Act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2011680" y="7751445"/>
            <a:ext cx="1007581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C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recommends approve, flag, or request more data — looping back once if needed.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143000" y="8808720"/>
            <a:ext cx="563880" cy="563880"/>
          </a:xfrm>
          <a:prstGeom prst="ellipse">
            <a:avLst/>
          </a:prstGeom>
          <a:solidFill>
            <a:srgbClr val="EDE4FF"/>
          </a:solidFill>
          <a:ln w="15240">
            <a:solidFill>
              <a:srgbClr val="7A3FA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1120140" y="882396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7A3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2011680" y="8865870"/>
            <a:ext cx="683539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2011680" y="9250680"/>
            <a:ext cx="683539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C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is saved and rendered on the reviewer's dashboard.</a:t>
            </a:r>
            <a:endParaRPr lang="en-US" sz="18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952500" y="857250"/>
            <a:ext cx="180213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31" dirty="0">
                <a:solidFill>
                  <a:srgbClr val="E8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</a:t>
            </a:r>
            <a:endParaRPr lang="en-US" sz="1650" dirty="0"/>
          </a:p>
        </p:txBody>
      </p:sp>
      <p:sp>
        <p:nvSpPr>
          <p:cNvPr id="3" name="Text 3"/>
          <p:cNvSpPr/>
          <p:nvPr/>
        </p:nvSpPr>
        <p:spPr>
          <a:xfrm>
            <a:off x="952500" y="1220000"/>
            <a:ext cx="18021300" cy="7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kern="0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Sequence: how a claim gets analyzed</a:t>
            </a:r>
            <a:endParaRPr lang="en-US" sz="3400" dirty="0"/>
          </a:p>
        </p:txBody>
      </p:sp>
      <p:sp>
        <p:nvSpPr>
          <p:cNvPr id="4" name="Text 4"/>
          <p:cNvSpPr/>
          <p:nvPr/>
        </p:nvSpPr>
        <p:spPr>
          <a:xfrm>
            <a:off x="952500" y="1980000"/>
            <a:ext cx="18021300" cy="3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00" b="0" kern="0" dirty="0">
                <a:solidFill>
                  <a:srgbClr val="8A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reviewer click to persisted recommendation — LangGraph agent in the middle</a:t>
            </a:r>
            <a:endParaRPr lang="en-US" sz="1400" dirty="0"/>
          </a:p>
        </p:txBody>
      </p:sp>
      <p:sp>
        <p:nvSpPr>
          <p:cNvPr id="5" name="Card 5"/>
          <p:cNvSpPr/>
          <p:nvPr/>
        </p:nvSpPr>
        <p:spPr>
          <a:xfrm>
            <a:off x="1290800" y="2450000"/>
            <a:ext cx="2600000" cy="560000"/>
          </a:xfrm>
          <a:prstGeom prst="roundRect">
            <a:avLst>
              <a:gd name="adj" fmla="val 15528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2E165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6"/>
          <p:cNvSpPr/>
          <p:nvPr/>
        </p:nvSpPr>
        <p:spPr>
          <a:xfrm>
            <a:off x="1290800" y="2600000"/>
            <a:ext cx="2600000" cy="3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kern="0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</a:t>
            </a:r>
            <a:endParaRPr lang="en-US" sz="1500" dirty="0"/>
          </a:p>
        </p:txBody>
      </p:sp>
      <p:cxnSp>
        <p:nvCxnSpPr>
          <p:cNvPr id="7" name="Connector 7"/>
          <p:cNvCxnSpPr/>
          <p:nvPr/>
        </p:nvCxnSpPr>
        <p:spPr>
          <a:xfrm>
            <a:off x="2590800" y="3010000"/>
            <a:ext cx="0" cy="6490000"/>
          </a:xfrm>
          <a:prstGeom prst="line">
            <a:avLst/>
          </a:prstGeom>
          <a:ln w="9525">
            <a:solidFill>
              <a:srgbClr val="8A7FA0"/>
            </a:solidFill>
            <a:prstDash val="dash"/>
          </a:ln>
        </p:spPr>
      </p:cxnSp>
      <p:sp>
        <p:nvSpPr>
          <p:cNvPr id="8" name="Card 8"/>
          <p:cNvSpPr/>
          <p:nvPr/>
        </p:nvSpPr>
        <p:spPr>
          <a:xfrm>
            <a:off x="4567400" y="2450000"/>
            <a:ext cx="2600000" cy="560000"/>
          </a:xfrm>
          <a:prstGeom prst="roundRect">
            <a:avLst>
              <a:gd name="adj" fmla="val 15528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2E165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Text 9"/>
          <p:cNvSpPr/>
          <p:nvPr/>
        </p:nvSpPr>
        <p:spPr>
          <a:xfrm>
            <a:off x="4567400" y="2600000"/>
            <a:ext cx="2600000" cy="3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kern="0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(Next.js)</a:t>
            </a:r>
            <a:endParaRPr lang="en-US" sz="1500" dirty="0"/>
          </a:p>
        </p:txBody>
      </p:sp>
      <p:cxnSp>
        <p:nvCxnSpPr>
          <p:cNvPr id="10" name="Connector 10"/>
          <p:cNvCxnSpPr/>
          <p:nvPr/>
        </p:nvCxnSpPr>
        <p:spPr>
          <a:xfrm>
            <a:off x="5867400" y="3010000"/>
            <a:ext cx="0" cy="6490000"/>
          </a:xfrm>
          <a:prstGeom prst="line">
            <a:avLst/>
          </a:prstGeom>
          <a:ln w="9525">
            <a:solidFill>
              <a:srgbClr val="8A7FA0"/>
            </a:solidFill>
            <a:prstDash val="dash"/>
          </a:ln>
        </p:spPr>
      </p:cxnSp>
      <p:sp>
        <p:nvSpPr>
          <p:cNvPr id="11" name="Card 11"/>
          <p:cNvSpPr/>
          <p:nvPr/>
        </p:nvSpPr>
        <p:spPr>
          <a:xfrm>
            <a:off x="7844000" y="2450000"/>
            <a:ext cx="2600000" cy="560000"/>
          </a:xfrm>
          <a:prstGeom prst="roundRect">
            <a:avLst>
              <a:gd name="adj" fmla="val 15528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2E165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2" name="Text 12"/>
          <p:cNvSpPr/>
          <p:nvPr/>
        </p:nvSpPr>
        <p:spPr>
          <a:xfrm>
            <a:off x="7844000" y="2600000"/>
            <a:ext cx="2600000" cy="3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kern="0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(FastAPI)</a:t>
            </a:r>
            <a:endParaRPr lang="en-US" sz="1500" dirty="0"/>
          </a:p>
        </p:txBody>
      </p:sp>
      <p:cxnSp>
        <p:nvCxnSpPr>
          <p:cNvPr id="13" name="Connector 13"/>
          <p:cNvCxnSpPr/>
          <p:nvPr/>
        </p:nvCxnSpPr>
        <p:spPr>
          <a:xfrm>
            <a:off x="9144000" y="3010000"/>
            <a:ext cx="0" cy="6490000"/>
          </a:xfrm>
          <a:prstGeom prst="line">
            <a:avLst/>
          </a:prstGeom>
          <a:ln w="9525">
            <a:solidFill>
              <a:srgbClr val="8A7FA0"/>
            </a:solidFill>
            <a:prstDash val="dash"/>
          </a:ln>
        </p:spPr>
      </p:cxnSp>
      <p:sp>
        <p:nvSpPr>
          <p:cNvPr id="14" name="Card 14"/>
          <p:cNvSpPr/>
          <p:nvPr/>
        </p:nvSpPr>
        <p:spPr>
          <a:xfrm>
            <a:off x="11120600" y="2450000"/>
            <a:ext cx="2600000" cy="560000"/>
          </a:xfrm>
          <a:prstGeom prst="roundRect">
            <a:avLst>
              <a:gd name="adj" fmla="val 15528"/>
            </a:avLst>
          </a:prstGeom>
          <a:solidFill>
            <a:srgbClr val="2E1650"/>
          </a:solidFill>
          <a:ln/>
          <a:effectLst>
            <a:outerShdw blurRad="28575" dist="9525" dir="5400000" algn="bl" rotWithShape="0">
              <a:srgbClr val="2E165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5" name="Text 15"/>
          <p:cNvSpPr/>
          <p:nvPr/>
        </p:nvSpPr>
        <p:spPr>
          <a:xfrm>
            <a:off x="11120600" y="2600000"/>
            <a:ext cx="2600000" cy="3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+ ML (Groq)</a:t>
            </a:r>
            <a:endParaRPr lang="en-US" sz="1500" dirty="0"/>
          </a:p>
        </p:txBody>
      </p:sp>
      <p:cxnSp>
        <p:nvCxnSpPr>
          <p:cNvPr id="16" name="Connector 16"/>
          <p:cNvCxnSpPr/>
          <p:nvPr/>
        </p:nvCxnSpPr>
        <p:spPr>
          <a:xfrm>
            <a:off x="12420600" y="3010000"/>
            <a:ext cx="0" cy="6490000"/>
          </a:xfrm>
          <a:prstGeom prst="line">
            <a:avLst/>
          </a:prstGeom>
          <a:ln w="9525">
            <a:solidFill>
              <a:srgbClr val="8A7FA0"/>
            </a:solidFill>
            <a:prstDash val="dash"/>
          </a:ln>
        </p:spPr>
      </p:cxnSp>
      <p:sp>
        <p:nvSpPr>
          <p:cNvPr id="17" name="Card 17"/>
          <p:cNvSpPr/>
          <p:nvPr/>
        </p:nvSpPr>
        <p:spPr>
          <a:xfrm>
            <a:off x="14397200" y="2450000"/>
            <a:ext cx="2600000" cy="560000"/>
          </a:xfrm>
          <a:prstGeom prst="roundRect">
            <a:avLst>
              <a:gd name="adj" fmla="val 15528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2E165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8" name="Text 18"/>
          <p:cNvSpPr/>
          <p:nvPr/>
        </p:nvSpPr>
        <p:spPr>
          <a:xfrm>
            <a:off x="14397200" y="2600000"/>
            <a:ext cx="2600000" cy="3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kern="0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500" dirty="0"/>
          </a:p>
        </p:txBody>
      </p:sp>
      <p:cxnSp>
        <p:nvCxnSpPr>
          <p:cNvPr id="19" name="Connector 19"/>
          <p:cNvCxnSpPr/>
          <p:nvPr/>
        </p:nvCxnSpPr>
        <p:spPr>
          <a:xfrm>
            <a:off x="15697200" y="3010000"/>
            <a:ext cx="0" cy="6490000"/>
          </a:xfrm>
          <a:prstGeom prst="line">
            <a:avLst/>
          </a:prstGeom>
          <a:ln w="9525">
            <a:solidFill>
              <a:srgbClr val="8A7FA0"/>
            </a:solidFill>
            <a:prstDash val="dash"/>
          </a:ln>
        </p:spPr>
      </p:cxnSp>
      <p:cxnSp>
        <p:nvCxnSpPr>
          <p:cNvPr id="20" name="Connector 20"/>
          <p:cNvCxnSpPr/>
          <p:nvPr/>
        </p:nvCxnSpPr>
        <p:spPr>
          <a:xfrm>
            <a:off x="2590800" y="3550000"/>
            <a:ext cx="3276600" cy="0"/>
          </a:xfrm>
          <a:prstGeom prst="line">
            <a:avLst/>
          </a:prstGeom>
          <a:ln w="19050">
            <a:solidFill>
              <a:srgbClr val="2E1650"/>
            </a:solidFill>
            <a:tailEnd type="triangle" w="med" len="med"/>
          </a:ln>
        </p:spPr>
      </p:cxnSp>
      <p:sp>
        <p:nvSpPr>
          <p:cNvPr id="21" name="Text 21"/>
          <p:cNvSpPr/>
          <p:nvPr/>
        </p:nvSpPr>
        <p:spPr>
          <a:xfrm>
            <a:off x="2590800" y="3300000"/>
            <a:ext cx="3276600" cy="24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 kern="0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 Clicks “Run AI Analysis”</a:t>
            </a:r>
            <a:endParaRPr lang="en-US" sz="1250" dirty="0"/>
          </a:p>
        </p:txBody>
      </p:sp>
      <p:cxnSp>
        <p:nvCxnSpPr>
          <p:cNvPr id="22" name="Connector 22"/>
          <p:cNvCxnSpPr/>
          <p:nvPr/>
        </p:nvCxnSpPr>
        <p:spPr>
          <a:xfrm>
            <a:off x="5867400" y="4250000"/>
            <a:ext cx="3276600" cy="0"/>
          </a:xfrm>
          <a:prstGeom prst="line">
            <a:avLst/>
          </a:prstGeom>
          <a:ln w="19050">
            <a:solidFill>
              <a:srgbClr val="2E1650"/>
            </a:solidFill>
            <a:tailEnd type="triangle" w="med" len="med"/>
          </a:ln>
        </p:spPr>
      </p:cxnSp>
      <p:sp>
        <p:nvSpPr>
          <p:cNvPr id="23" name="Text 23"/>
          <p:cNvSpPr/>
          <p:nvPr/>
        </p:nvSpPr>
        <p:spPr>
          <a:xfrm>
            <a:off x="5867400" y="4000000"/>
            <a:ext cx="3276600" cy="24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 kern="0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 POST /claims/{id}/analyze</a:t>
            </a:r>
            <a:endParaRPr lang="en-US" sz="1250" dirty="0"/>
          </a:p>
        </p:txBody>
      </p:sp>
      <p:cxnSp>
        <p:nvCxnSpPr>
          <p:cNvPr id="24" name="Connector 24"/>
          <p:cNvCxnSpPr/>
          <p:nvPr/>
        </p:nvCxnSpPr>
        <p:spPr>
          <a:xfrm>
            <a:off x="9144000" y="4950000"/>
            <a:ext cx="6553200" cy="0"/>
          </a:xfrm>
          <a:prstGeom prst="line">
            <a:avLst/>
          </a:prstGeom>
          <a:ln w="19050">
            <a:solidFill>
              <a:srgbClr val="2E1650"/>
            </a:solidFill>
            <a:tailEnd type="triangle" w="med" len="med"/>
          </a:ln>
        </p:spPr>
      </p:cxnSp>
      <p:sp>
        <p:nvSpPr>
          <p:cNvPr id="25" name="Text 25"/>
          <p:cNvSpPr/>
          <p:nvPr/>
        </p:nvSpPr>
        <p:spPr>
          <a:xfrm>
            <a:off x="9144000" y="4700000"/>
            <a:ext cx="6553200" cy="24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 kern="0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 Fetch claim + patient + provider + billing window</a:t>
            </a:r>
            <a:endParaRPr lang="en-US" sz="1250" dirty="0"/>
          </a:p>
        </p:txBody>
      </p:sp>
      <p:cxnSp>
        <p:nvCxnSpPr>
          <p:cNvPr id="26" name="Connector 26"/>
          <p:cNvCxnSpPr/>
          <p:nvPr/>
        </p:nvCxnSpPr>
        <p:spPr>
          <a:xfrm flipH="1">
            <a:off x="9144000" y="5650000"/>
            <a:ext cx="6553200" cy="0"/>
          </a:xfrm>
          <a:prstGeom prst="line">
            <a:avLst/>
          </a:prstGeom>
          <a:ln w="12700">
            <a:solidFill>
              <a:srgbClr val="8A7FA0"/>
            </a:solidFill>
            <a:prstDash val="dash"/>
            <a:tailEnd type="triangle" w="med" len="med"/>
          </a:ln>
        </p:spPr>
      </p:cxnSp>
      <p:sp>
        <p:nvSpPr>
          <p:cNvPr id="27" name="Text 27"/>
          <p:cNvSpPr/>
          <p:nvPr/>
        </p:nvSpPr>
        <p:spPr>
          <a:xfrm>
            <a:off x="9144000" y="5400000"/>
            <a:ext cx="6553200" cy="24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0" kern="0" dirty="0">
                <a:solidFill>
                  <a:srgbClr val="8A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 Context returned</a:t>
            </a:r>
            <a:endParaRPr lang="en-US" sz="1250" dirty="0"/>
          </a:p>
        </p:txBody>
      </p:sp>
      <p:cxnSp>
        <p:nvCxnSpPr>
          <p:cNvPr id="28" name="Connector 28"/>
          <p:cNvCxnSpPr/>
          <p:nvPr/>
        </p:nvCxnSpPr>
        <p:spPr>
          <a:xfrm>
            <a:off x="9144000" y="6350000"/>
            <a:ext cx="3276600" cy="0"/>
          </a:xfrm>
          <a:prstGeom prst="line">
            <a:avLst/>
          </a:prstGeom>
          <a:ln w="19050">
            <a:solidFill>
              <a:srgbClr val="2E1650"/>
            </a:solidFill>
            <a:tailEnd type="triangle" w="med" len="med"/>
          </a:ln>
        </p:spPr>
      </p:cxnSp>
      <p:sp>
        <p:nvSpPr>
          <p:cNvPr id="29" name="Text 29"/>
          <p:cNvSpPr/>
          <p:nvPr/>
        </p:nvSpPr>
        <p:spPr>
          <a:xfrm>
            <a:off x="9144000" y="6100000"/>
            <a:ext cx="3276600" cy="24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50" b="1" kern="0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 Run 4 ML signals + Groq chain-reasoning</a:t>
            </a:r>
            <a:endParaRPr lang="en-US" sz="1250" dirty="0"/>
          </a:p>
        </p:txBody>
      </p:sp>
      <p:cxnSp>
        <p:nvCxnSpPr>
          <p:cNvPr id="30" name="Connector 30"/>
          <p:cNvCxnSpPr/>
          <p:nvPr/>
        </p:nvCxnSpPr>
        <p:spPr>
          <a:xfrm flipH="1">
            <a:off x="9144000" y="7050000"/>
            <a:ext cx="3276600" cy="0"/>
          </a:xfrm>
          <a:prstGeom prst="line">
            <a:avLst/>
          </a:prstGeom>
          <a:ln w="12700">
            <a:solidFill>
              <a:srgbClr val="8A7FA0"/>
            </a:solidFill>
            <a:prstDash val="dash"/>
            <a:tailEnd type="triangle" w="med" len="med"/>
          </a:ln>
        </p:spPr>
      </p:cxnSp>
      <p:sp>
        <p:nvSpPr>
          <p:cNvPr id="31" name="Text 31"/>
          <p:cNvSpPr/>
          <p:nvPr/>
        </p:nvSpPr>
        <p:spPr>
          <a:xfrm>
            <a:off x="9144000" y="6800000"/>
            <a:ext cx="3276600" cy="24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50" b="0" kern="0" dirty="0">
                <a:solidFill>
                  <a:srgbClr val="8A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 Recommendation: approve / flag / request more data</a:t>
            </a:r>
            <a:endParaRPr lang="en-US" sz="1250" dirty="0"/>
          </a:p>
        </p:txBody>
      </p:sp>
      <p:cxnSp>
        <p:nvCxnSpPr>
          <p:cNvPr id="32" name="Connector 32"/>
          <p:cNvCxnSpPr/>
          <p:nvPr/>
        </p:nvCxnSpPr>
        <p:spPr>
          <a:xfrm>
            <a:off x="9144000" y="7750000"/>
            <a:ext cx="6553200" cy="0"/>
          </a:xfrm>
          <a:prstGeom prst="line">
            <a:avLst/>
          </a:prstGeom>
          <a:ln w="19050">
            <a:solidFill>
              <a:srgbClr val="2E1650"/>
            </a:solidFill>
            <a:tailEnd type="triangle" w="med" len="med"/>
          </a:ln>
        </p:spPr>
      </p:cxnSp>
      <p:sp>
        <p:nvSpPr>
          <p:cNvPr id="33" name="Text 33"/>
          <p:cNvSpPr/>
          <p:nvPr/>
        </p:nvSpPr>
        <p:spPr>
          <a:xfrm>
            <a:off x="9144000" y="7500000"/>
            <a:ext cx="6553200" cy="24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 kern="0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 Persist AnalysisResult → claim_analyses</a:t>
            </a:r>
            <a:endParaRPr lang="en-US" sz="1250" dirty="0"/>
          </a:p>
        </p:txBody>
      </p:sp>
      <p:cxnSp>
        <p:nvCxnSpPr>
          <p:cNvPr id="34" name="Connector 34"/>
          <p:cNvCxnSpPr/>
          <p:nvPr/>
        </p:nvCxnSpPr>
        <p:spPr>
          <a:xfrm flipH="1">
            <a:off x="5867400" y="8450000"/>
            <a:ext cx="3276600" cy="0"/>
          </a:xfrm>
          <a:prstGeom prst="line">
            <a:avLst/>
          </a:prstGeom>
          <a:ln w="12700">
            <a:solidFill>
              <a:srgbClr val="8A7FA0"/>
            </a:solidFill>
            <a:prstDash val="dash"/>
            <a:tailEnd type="triangle" w="med" len="med"/>
          </a:ln>
        </p:spPr>
      </p:cxnSp>
      <p:sp>
        <p:nvSpPr>
          <p:cNvPr id="35" name="Text 35"/>
          <p:cNvSpPr/>
          <p:nvPr/>
        </p:nvSpPr>
        <p:spPr>
          <a:xfrm>
            <a:off x="5867400" y="8200000"/>
            <a:ext cx="3276600" cy="24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0" kern="0" dirty="0">
                <a:solidFill>
                  <a:srgbClr val="8A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⑧  200 OK — result payload</a:t>
            </a:r>
            <a:endParaRPr lang="en-US" sz="1250" dirty="0"/>
          </a:p>
        </p:txBody>
      </p:sp>
      <p:cxnSp>
        <p:nvCxnSpPr>
          <p:cNvPr id="36" name="Connector 36"/>
          <p:cNvCxnSpPr/>
          <p:nvPr/>
        </p:nvCxnSpPr>
        <p:spPr>
          <a:xfrm flipH="1">
            <a:off x="2590800" y="9150000"/>
            <a:ext cx="3276600" cy="0"/>
          </a:xfrm>
          <a:prstGeom prst="line">
            <a:avLst/>
          </a:prstGeom>
          <a:ln w="12700">
            <a:solidFill>
              <a:srgbClr val="8A7FA0"/>
            </a:solidFill>
            <a:prstDash val="dash"/>
            <a:tailEnd type="triangle" w="med" len="med"/>
          </a:ln>
        </p:spPr>
      </p:cxnSp>
      <p:sp>
        <p:nvSpPr>
          <p:cNvPr id="37" name="Text 37"/>
          <p:cNvSpPr/>
          <p:nvPr/>
        </p:nvSpPr>
        <p:spPr>
          <a:xfrm>
            <a:off x="2590800" y="8900000"/>
            <a:ext cx="3276600" cy="24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0" kern="0" dirty="0">
                <a:solidFill>
                  <a:srgbClr val="8A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⑨  Render recommendation &amp; rationale</a:t>
            </a:r>
            <a:endParaRPr lang="en-US" sz="1250" dirty="0"/>
          </a:p>
        </p:txBody>
      </p:sp>
      <p:sp>
        <p:nvSpPr>
          <p:cNvPr id="38" name="Loop box"/>
          <p:cNvSpPr/>
          <p:nvPr/>
        </p:nvSpPr>
        <p:spPr>
          <a:xfrm>
            <a:off x="7544000" y="4550000"/>
            <a:ext cx="9753200" cy="2650000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E85AA0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Text 39"/>
          <p:cNvSpPr/>
          <p:nvPr/>
        </p:nvSpPr>
        <p:spPr>
          <a:xfrm>
            <a:off x="7694000" y="4490000"/>
            <a:ext cx="9453200" cy="2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i="1" kern="0" dirty="0">
                <a:solidFill>
                  <a:srgbClr val="E8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— request_more_data (≤ 1 retry, widens window to 90 days)</a:t>
            </a:r>
            <a:endParaRPr lang="en-US" sz="1200" dirty="0"/>
          </a:p>
        </p:txBody>
      </p:sp>
      <p:sp>
        <p:nvSpPr>
          <p:cNvPr id="40" name="Text 40"/>
          <p:cNvSpPr/>
          <p:nvPr/>
        </p:nvSpPr>
        <p:spPr>
          <a:xfrm>
            <a:off x="952500" y="9700000"/>
            <a:ext cx="180213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00" b="0" kern="0" dirty="0">
                <a:solidFill>
                  <a:srgbClr val="8A7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LangGraph StateGraph in backend/agent/graph.py — fetch_claim_context → run_ml_signals → reasoning_node → recommendation_node → persist_result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31" dirty="0">
                <a:solidFill>
                  <a:srgbClr val="E8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91590"/>
            <a:ext cx="180213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models, four signals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952500" y="2541270"/>
            <a:ext cx="16383000" cy="701040"/>
          </a:xfrm>
          <a:prstGeom prst="rect">
            <a:avLst/>
          </a:prstGeom>
          <a:solidFill>
            <a:srgbClr val="EDE4F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1200150" y="2750820"/>
            <a:ext cx="433514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889903" y="2750820"/>
            <a:ext cx="601204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207716" y="2750820"/>
            <a:ext cx="5041397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2500" y="4801076"/>
            <a:ext cx="16383000" cy="9525"/>
          </a:xfrm>
          <a:prstGeom prst="rect">
            <a:avLst/>
          </a:prstGeom>
          <a:solidFill>
            <a:srgbClr val="EEE2F7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1200150" y="3451860"/>
            <a:ext cx="4335146" cy="1185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889903" y="3451860"/>
            <a:ext cx="6012048" cy="1185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(200 trees)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207716" y="3451860"/>
            <a:ext cx="5041397" cy="1185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risk label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2500" y="6375916"/>
            <a:ext cx="16383000" cy="9525"/>
          </a:xfrm>
          <a:prstGeom prst="rect">
            <a:avLst/>
          </a:prstGeom>
          <a:solidFill>
            <a:srgbClr val="EEE2F7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1200150" y="5018246"/>
            <a:ext cx="4335146" cy="119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889903" y="5018246"/>
            <a:ext cx="6012048" cy="119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Regressor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207716" y="5018246"/>
            <a:ext cx="5041397" cy="119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paid amount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2500" y="7950756"/>
            <a:ext cx="16383000" cy="9525"/>
          </a:xfrm>
          <a:prstGeom prst="rect">
            <a:avLst/>
          </a:prstGeom>
          <a:solidFill>
            <a:srgbClr val="EEE2F7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1200150" y="6593086"/>
            <a:ext cx="4335146" cy="119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Clustering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5889903" y="6593086"/>
            <a:ext cx="6012048" cy="119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(k=4)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207716" y="6593086"/>
            <a:ext cx="5041397" cy="119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behavior group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200150" y="8167926"/>
            <a:ext cx="4335146" cy="1185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Anomaly</a:t>
            </a: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Detection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5889903" y="8167926"/>
            <a:ext cx="6012048" cy="1185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Forest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2207716" y="8167926"/>
            <a:ext cx="5041397" cy="1185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 billing days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31" dirty="0">
                <a:solidFill>
                  <a:srgbClr val="B54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91590"/>
            <a:ext cx="180213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trends converging on payment integrity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952500" y="3861435"/>
            <a:ext cx="16383000" cy="129540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2E165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1333500" y="4185285"/>
            <a:ext cx="74295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8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305050" y="4315778"/>
            <a:ext cx="12426577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54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has moved from pilot to production — agents that plan and act, not just answer once.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52500" y="5385435"/>
            <a:ext cx="16383000" cy="129540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2E165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1333500" y="5709285"/>
            <a:ext cx="74295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8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305050" y="5839778"/>
            <a:ext cx="11073015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54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Payers and regulators expect explainability — an auditable rationale, not just a score.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52500" y="6909435"/>
            <a:ext cx="16383000" cy="129540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2E165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1333500" y="7233285"/>
            <a:ext cx="74295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8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305050" y="7363778"/>
            <a:ext cx="12670310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54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Unstructured healthcare data is becoming machine-tractable, widening what claims AI can review.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31" dirty="0">
                <a:solidFill>
                  <a:srgbClr val="E8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91590"/>
            <a:ext cx="180213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 &amp; threats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952500" y="2541270"/>
            <a:ext cx="8020050" cy="6983730"/>
          </a:xfrm>
          <a:prstGeom prst="roundRect">
            <a:avLst>
              <a:gd name="adj" fmla="val 2728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2E165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952500" y="2541270"/>
            <a:ext cx="8020050" cy="76200"/>
          </a:xfrm>
          <a:prstGeom prst="rect">
            <a:avLst/>
          </a:prstGeom>
          <a:solidFill>
            <a:srgbClr val="7A3FA8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1333500" y="2998470"/>
            <a:ext cx="7983855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E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333500" y="3573780"/>
            <a:ext cx="747579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C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Pre-screen the long tail of routine claims, freeing auditors for genuinely ambiguous cases.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33500" y="4526280"/>
            <a:ext cx="747579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C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explainable rationale instead of four disconnected dashboards.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33500" y="5478780"/>
            <a:ext cx="747579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C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Cluster-aware anomalies cut false positives by re-contextualizing what "unusual" means.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315450" y="2541270"/>
            <a:ext cx="8020050" cy="6983730"/>
          </a:xfrm>
          <a:prstGeom prst="roundRect">
            <a:avLst>
              <a:gd name="adj" fmla="val 2728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2E165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9315450" y="2541270"/>
            <a:ext cx="8020050" cy="76200"/>
          </a:xfrm>
          <a:prstGeom prst="rect">
            <a:avLst/>
          </a:prstGeom>
          <a:solidFill>
            <a:srgbClr val="E85AA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9696450" y="2998470"/>
            <a:ext cx="7983855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B54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696450" y="3573780"/>
            <a:ext cx="747579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C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 but wrong recommendations risk automation bias in reviewers.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96450" y="4526280"/>
            <a:ext cx="747579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C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scrutiny of algorithmic denials demands a documented decision trail.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696450" y="5478780"/>
            <a:ext cx="747579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5C5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LLM dependence raises cost, latency, and data-governance questions.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16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31" dirty="0">
                <a:solidFill>
                  <a:srgbClr val="FFE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91590"/>
            <a:ext cx="180213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moves for Cotiviti to explore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952500" y="3977640"/>
            <a:ext cx="16383000" cy="1230630"/>
          </a:xfrm>
          <a:prstGeom prst="roundRect">
            <a:avLst>
              <a:gd name="adj" fmla="val 13932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1333500" y="4364355"/>
            <a:ext cx="6477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E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2209800" y="4282440"/>
            <a:ext cx="946275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Reasoning-augmented review copilot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209800" y="4644390"/>
            <a:ext cx="946275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8C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a chain-reasoning layer to existing models so every flag ships with a rationale.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5417820"/>
            <a:ext cx="16383000" cy="1230630"/>
          </a:xfrm>
          <a:prstGeom prst="roundRect">
            <a:avLst>
              <a:gd name="adj" fmla="val 13932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1333500" y="5804535"/>
            <a:ext cx="6477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E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2209800" y="5722620"/>
            <a:ext cx="818607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Provider-behavior clustering as a standing signal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209800" y="6084570"/>
            <a:ext cx="818607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8C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Nightly re-clustering and anomaly baselines to cut false positives cheaply.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52500" y="6858000"/>
            <a:ext cx="16383000" cy="1230630"/>
          </a:xfrm>
          <a:prstGeom prst="roundRect">
            <a:avLst>
              <a:gd name="adj" fmla="val 13932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1333500" y="7244715"/>
            <a:ext cx="6477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E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2209800" y="7162800"/>
            <a:ext cx="81918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agentic escalation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209800" y="7524750"/>
            <a:ext cx="819183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8C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an agent request more evidence within a hard, auditable iteration cap.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E1650">
                  <a:alpha val="100000"/>
                </a:srgbClr>
              </a:gs>
              <a:gs pos="55000">
                <a:srgbClr val="4A1F7A">
                  <a:alpha val="100000"/>
                </a:srgbClr>
              </a:gs>
              <a:gs pos="100000">
                <a:srgbClr val="7A2E6E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1143000" y="952500"/>
            <a:ext cx="108180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kern="0" spc="-3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cotiviti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2281952" y="1068705"/>
            <a:ext cx="133350" cy="133350"/>
          </a:xfrm>
          <a:prstGeom prst="ellipse">
            <a:avLst/>
          </a:prstGeom>
          <a:solidFill>
            <a:srgbClr val="E85AA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1143000" y="4048125"/>
            <a:ext cx="1571625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1143000" y="5229225"/>
            <a:ext cx="1571625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E6D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report, POC source, and demo video accompany this deck.</a:t>
            </a:r>
            <a:endParaRPr lang="en-US" sz="2550" dirty="0"/>
          </a:p>
        </p:txBody>
      </p:sp>
      <p:sp>
        <p:nvSpPr>
          <p:cNvPr id="7" name="Text 5">
            <a:hlinkClick r:id="rId3"/>
          </p:cNvPr>
          <p:cNvSpPr/>
          <p:nvPr/>
        </p:nvSpPr>
        <p:spPr>
          <a:xfrm>
            <a:off x="1143000" y="5861685"/>
            <a:ext cx="157162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u="sng" dirty="0">
                <a:solidFill>
                  <a:srgbClr val="FFE3F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github.com/AhmedJesserLahmer/Cotiviti-ai-claims-review-assistant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143000" y="8896350"/>
            <a:ext cx="16002000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1143000" y="9170670"/>
            <a:ext cx="252979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 Jesser Lahmer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454669" y="9170670"/>
            <a:ext cx="185936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 Candidate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914</Words>
  <Application>Microsoft Office PowerPoint</Application>
  <PresentationFormat>Personnalisé</PresentationFormat>
  <Paragraphs>157</Paragraphs>
  <Slides>11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jojo jojo</cp:lastModifiedBy>
  <cp:revision>3</cp:revision>
  <dcterms:created xsi:type="dcterms:W3CDTF">2026-07-08T18:17:32Z</dcterms:created>
  <dcterms:modified xsi:type="dcterms:W3CDTF">2026-07-09T00:01:23Z</dcterms:modified>
</cp:coreProperties>
</file>